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308" r:id="rId4"/>
    <p:sldId id="309" r:id="rId5"/>
    <p:sldId id="291" r:id="rId6"/>
    <p:sldId id="292" r:id="rId7"/>
    <p:sldId id="293" r:id="rId8"/>
    <p:sldId id="296" r:id="rId9"/>
    <p:sldId id="294" r:id="rId10"/>
    <p:sldId id="298" r:id="rId11"/>
    <p:sldId id="299" r:id="rId12"/>
    <p:sldId id="300" r:id="rId13"/>
    <p:sldId id="302" r:id="rId14"/>
    <p:sldId id="303" r:id="rId15"/>
    <p:sldId id="304" r:id="rId16"/>
    <p:sldId id="305" r:id="rId17"/>
    <p:sldId id="306" r:id="rId18"/>
    <p:sldId id="30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99" autoAdjust="0"/>
    <p:restoredTop sz="94719"/>
  </p:normalViewPr>
  <p:slideViewPr>
    <p:cSldViewPr snapToGrid="0">
      <p:cViewPr varScale="1">
        <p:scale>
          <a:sx n="96" d="100"/>
          <a:sy n="96" d="100"/>
        </p:scale>
        <p:origin x="88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9T17:14:35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0 18824,'-26'0'0,"8"0"0,13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9T17:14:35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14380,'16'0'0,"-6"0"0,-6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9T17:14:39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24575,'0'-5'0,"0"0"0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1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0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94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3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79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5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1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61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4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C4F32-CDDF-4EEB-A9A3-F5322FD7ABF7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498E2-E0E0-4A4A-B9FB-82455A57E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7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32.png"/><Relationship Id="rId7" Type="http://schemas.openxmlformats.org/officeDocument/2006/relationships/customXml" Target="../ink/ink1.xml"/><Relationship Id="rId12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customXml" Target="../ink/ink3.xml"/><Relationship Id="rId5" Type="http://schemas.openxmlformats.org/officeDocument/2006/relationships/image" Target="../media/image34.png"/><Relationship Id="rId10" Type="http://schemas.openxmlformats.org/officeDocument/2006/relationships/image" Target="../media/image35.png"/><Relationship Id="rId4" Type="http://schemas.openxmlformats.org/officeDocument/2006/relationships/image" Target="../media/image33.png"/><Relationship Id="rId9" Type="http://schemas.openxmlformats.org/officeDocument/2006/relationships/customXml" Target="../ink/ink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566D9-9B8A-94F6-F607-575114B4C2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Project 3 Report P</a:t>
            </a:r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7D9D9-F9A6-89DC-89A5-0394B626FF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Group 4 </a:t>
            </a:r>
            <a:br>
              <a:rPr lang="en-US" dirty="0"/>
            </a:br>
            <a:r>
              <a:rPr lang="en-US" dirty="0"/>
              <a:t>Saman, </a:t>
            </a:r>
            <a:r>
              <a:rPr lang="en-US" dirty="0" err="1"/>
              <a:t>Shihao</a:t>
            </a:r>
            <a:r>
              <a:rPr lang="en-US" dirty="0"/>
              <a:t>, Venkata, Sudhanshu</a:t>
            </a:r>
          </a:p>
        </p:txBody>
      </p:sp>
    </p:spTree>
    <p:extLst>
      <p:ext uri="{BB962C8B-B14F-4D97-AF65-F5344CB8AC3E}">
        <p14:creationId xmlns:p14="http://schemas.microsoft.com/office/powerpoint/2010/main" val="937588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803858-FB2E-7F71-464B-D7A87FF33D64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401A428-CDB5-F6DA-7D12-F4F6A9041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pic>
        <p:nvPicPr>
          <p:cNvPr id="5" name="Picture 4" descr="Sensors 20 01946 g008 550">
            <a:extLst>
              <a:ext uri="{FF2B5EF4-FFF2-40B4-BE49-F238E27FC236}">
                <a16:creationId xmlns:a16="http://schemas.microsoft.com/office/drawing/2014/main" id="{C4AB7983-5C5F-FCE8-3264-356E96509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99047" y="1690688"/>
            <a:ext cx="4187114" cy="440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26D983-4CFE-4516-F4AD-903ECD140AEE}"/>
              </a:ext>
            </a:extLst>
          </p:cNvPr>
          <p:cNvSpPr txBox="1"/>
          <p:nvPr/>
        </p:nvSpPr>
        <p:spPr>
          <a:xfrm>
            <a:off x="838201" y="1973031"/>
            <a:ext cx="403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Bearing health condition classification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CB5F8-2861-2029-3908-375F6486AAC4}"/>
              </a:ext>
            </a:extLst>
          </p:cNvPr>
          <p:cNvSpPr txBox="1"/>
          <p:nvPr/>
        </p:nvSpPr>
        <p:spPr>
          <a:xfrm>
            <a:off x="838201" y="2858914"/>
            <a:ext cx="370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data &amp; Test data with labels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508C9-C519-7EAF-10DF-955B1201649F}"/>
              </a:ext>
            </a:extLst>
          </p:cNvPr>
          <p:cNvSpPr txBox="1"/>
          <p:nvPr/>
        </p:nvSpPr>
        <p:spPr>
          <a:xfrm>
            <a:off x="838200" y="3656929"/>
            <a:ext cx="3510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 different unbalanced conditions </a:t>
            </a:r>
            <a:br>
              <a:rPr lang="en-US" dirty="0"/>
            </a:br>
            <a:r>
              <a:rPr lang="en-US" dirty="0"/>
              <a:t>&amp;</a:t>
            </a:r>
            <a:br>
              <a:rPr lang="en-US" dirty="0"/>
            </a:br>
            <a:r>
              <a:rPr lang="en-US" dirty="0"/>
              <a:t>1 normal condition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AE447B-94BA-234A-87F8-86824A2978A7}"/>
              </a:ext>
            </a:extLst>
          </p:cNvPr>
          <p:cNvSpPr txBox="1"/>
          <p:nvPr/>
        </p:nvSpPr>
        <p:spPr>
          <a:xfrm>
            <a:off x="838200" y="4983924"/>
            <a:ext cx="3510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 is training a model to identify which condition it is from the test data</a:t>
            </a:r>
          </a:p>
        </p:txBody>
      </p:sp>
    </p:spTree>
    <p:extLst>
      <p:ext uri="{BB962C8B-B14F-4D97-AF65-F5344CB8AC3E}">
        <p14:creationId xmlns:p14="http://schemas.microsoft.com/office/powerpoint/2010/main" val="2410651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E68F3-DFC5-C149-C487-CDBA4906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Bearing Specifications</a:t>
            </a:r>
          </a:p>
        </p:txBody>
      </p:sp>
      <p:pic>
        <p:nvPicPr>
          <p:cNvPr id="5" name="Content Placeholder 4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12DFF496-8F07-E08A-86F8-027BCA467D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19" y="3062950"/>
            <a:ext cx="10297962" cy="18766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11496C-F3CF-72CF-3500-413841692F7A}"/>
              </a:ext>
            </a:extLst>
          </p:cNvPr>
          <p:cNvSpPr txBox="1"/>
          <p:nvPr/>
        </p:nvSpPr>
        <p:spPr>
          <a:xfrm>
            <a:off x="947019" y="2192153"/>
            <a:ext cx="721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dimension and parameters needed for calculating fault frequencies</a:t>
            </a:r>
          </a:p>
        </p:txBody>
      </p:sp>
    </p:spTree>
    <p:extLst>
      <p:ext uri="{BB962C8B-B14F-4D97-AF65-F5344CB8AC3E}">
        <p14:creationId xmlns:p14="http://schemas.microsoft.com/office/powerpoint/2010/main" val="379730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9C049-2EC9-1035-FAE5-32A40D28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Frequencies related with bearing faults</a:t>
            </a:r>
          </a:p>
        </p:txBody>
      </p:sp>
      <p:pic>
        <p:nvPicPr>
          <p:cNvPr id="5" name="Content Placeholder 4" descr="A white text with black text&#10;&#10;Description automatically generated">
            <a:extLst>
              <a:ext uri="{FF2B5EF4-FFF2-40B4-BE49-F238E27FC236}">
                <a16:creationId xmlns:a16="http://schemas.microsoft.com/office/drawing/2014/main" id="{CDE93D00-EA10-2D95-3F79-7C94D04234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37" y="2410619"/>
            <a:ext cx="10296525" cy="3181350"/>
          </a:xfrm>
        </p:spPr>
      </p:pic>
    </p:spTree>
    <p:extLst>
      <p:ext uri="{BB962C8B-B14F-4D97-AF65-F5344CB8AC3E}">
        <p14:creationId xmlns:p14="http://schemas.microsoft.com/office/powerpoint/2010/main" val="1309915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183C-2A0F-0DAF-2345-90C9379F6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37BE-E27F-14E6-E750-03BE1F704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models</a:t>
            </a:r>
          </a:p>
          <a:p>
            <a:pPr lvl="1"/>
            <a:r>
              <a:rPr lang="en-US" dirty="0">
                <a:highlight>
                  <a:srgbClr val="00FF00"/>
                </a:highlight>
              </a:rPr>
              <a:t>SVM ---- 100% accuracy</a:t>
            </a:r>
          </a:p>
          <a:p>
            <a:pPr lvl="1"/>
            <a:r>
              <a:rPr lang="en-US" dirty="0">
                <a:highlight>
                  <a:srgbClr val="00FF00"/>
                </a:highlight>
              </a:rPr>
              <a:t>RF, KNN ---- 99.8% </a:t>
            </a:r>
            <a:r>
              <a:rPr lang="en-US" dirty="0">
                <a:highlight>
                  <a:srgbClr val="00FF00"/>
                </a:highlight>
                <a:sym typeface="Wingdings" pitchFamily="2" charset="2"/>
              </a:rPr>
              <a:t> </a:t>
            </a:r>
            <a:r>
              <a:rPr lang="en-US" dirty="0">
                <a:highlight>
                  <a:srgbClr val="00FF00"/>
                </a:highlight>
              </a:rPr>
              <a:t>100% accuracy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SOM ---- 97.85% 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 98.63% accuracy 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 99.41% accuracy</a:t>
            </a:r>
          </a:p>
          <a:p>
            <a:pPr lvl="1"/>
            <a:endParaRPr lang="en-US" dirty="0">
              <a:highlight>
                <a:srgbClr val="FFFF00"/>
              </a:highlight>
              <a:sym typeface="Wingdings" pitchFamily="2" charset="2"/>
            </a:endParaRPr>
          </a:p>
          <a:p>
            <a:pPr marL="457200" lvl="1" indent="0">
              <a:buNone/>
            </a:pPr>
            <a:endParaRPr lang="en-US" dirty="0">
              <a:highlight>
                <a:srgbClr val="FFFF00"/>
              </a:highlight>
              <a:sym typeface="Wingdings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03858-FB2E-7F71-464B-D7A87FF33D64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14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087F5-8343-AB44-0EE5-66B1A70C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B385-8E19-F049-E3EF-FE2D3EA6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966F2-E8AE-24D7-DDDE-D52F8E778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itchFamily="2" charset="2"/>
              </a:rPr>
              <a:t>Optimize the SOM model</a:t>
            </a:r>
          </a:p>
          <a:p>
            <a:r>
              <a:rPr lang="en-US" dirty="0">
                <a:sym typeface="Wingdings" pitchFamily="2" charset="2"/>
              </a:rPr>
              <a:t>Conduct 5-fold cross validation</a:t>
            </a:r>
          </a:p>
          <a:p>
            <a:pPr marL="457200" lvl="1" indent="0">
              <a:buNone/>
            </a:pPr>
            <a:endParaRPr lang="en-US" dirty="0">
              <a:highlight>
                <a:srgbClr val="FFFF00"/>
              </a:highlight>
              <a:sym typeface="Wingdings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D7342-E52A-F131-75B3-8118D51F3F88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206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4A10C-BBAD-9A88-979A-52415F56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BC45-3107-71EB-0BD9-4421C15D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 Optimization - New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B35CB2-97A9-ADDF-3238-BD1BC9EEC607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A6AE0A-7928-BFA5-5CD1-7A5922019064}"/>
              </a:ext>
            </a:extLst>
          </p:cNvPr>
          <p:cNvSpPr txBox="1"/>
          <p:nvPr/>
        </p:nvSpPr>
        <p:spPr>
          <a:xfrm>
            <a:off x="838200" y="1811547"/>
            <a:ext cx="434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Skewness + STD +RMS + Peak frequency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30F266-5CF9-10B2-62B8-0FA50F2426DA}"/>
              </a:ext>
            </a:extLst>
          </p:cNvPr>
          <p:cNvSpPr txBox="1"/>
          <p:nvPr/>
        </p:nvSpPr>
        <p:spPr>
          <a:xfrm>
            <a:off x="5906806" y="1811547"/>
            <a:ext cx="2894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Accuracy: 91.7969%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5D7A21-FC91-2FCF-9154-E9E695CCD9B8}"/>
              </a:ext>
            </a:extLst>
          </p:cNvPr>
          <p:cNvSpPr txBox="1"/>
          <p:nvPr/>
        </p:nvSpPr>
        <p:spPr>
          <a:xfrm>
            <a:off x="8452824" y="1811547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7.7% 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66EA59BE-011E-7892-2EF0-F3E41F35477E}"/>
              </a:ext>
            </a:extLst>
          </p:cNvPr>
          <p:cNvSpPr/>
          <p:nvPr/>
        </p:nvSpPr>
        <p:spPr>
          <a:xfrm>
            <a:off x="8307351" y="1889481"/>
            <a:ext cx="145473" cy="2367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DE01D85-8230-BFBC-6850-8A268BA19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501" y="2668992"/>
            <a:ext cx="4237930" cy="318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EEF48A6B-43DA-5868-992F-E0D2E1588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46" y="2668991"/>
            <a:ext cx="4237929" cy="3181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68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69406-5435-EC10-7771-CB807A9F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C4FB7-D200-AFCA-BF00-983C839F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 Optimization - New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95CF0-0785-97BE-713C-09DEEB7E855C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9567F-90D4-C68E-FDD8-D7184E1D1461}"/>
              </a:ext>
            </a:extLst>
          </p:cNvPr>
          <p:cNvSpPr txBox="1"/>
          <p:nvPr/>
        </p:nvSpPr>
        <p:spPr>
          <a:xfrm>
            <a:off x="838200" y="1811547"/>
            <a:ext cx="3968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Skewness + STD +RMS + 2x harmonic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AF73ED-DD5A-9C46-1647-69A107AA2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06" y="2611225"/>
            <a:ext cx="4756475" cy="357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D402A17C-CE10-F362-C660-5EBDF6FDC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578" y="2495085"/>
            <a:ext cx="4636465" cy="3484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B914B9-C759-300C-05A4-D4EB1BB5A9EC}"/>
              </a:ext>
            </a:extLst>
          </p:cNvPr>
          <p:cNvSpPr txBox="1"/>
          <p:nvPr/>
        </p:nvSpPr>
        <p:spPr>
          <a:xfrm>
            <a:off x="5906806" y="1811547"/>
            <a:ext cx="2894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Accuracy: 98.4375%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1B4CA-A0A2-D6A7-9844-3CC161E88837}"/>
              </a:ext>
            </a:extLst>
          </p:cNvPr>
          <p:cNvSpPr txBox="1"/>
          <p:nvPr/>
        </p:nvSpPr>
        <p:spPr>
          <a:xfrm>
            <a:off x="8452824" y="1811547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1% 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DCB5E9F3-DF07-50C5-50A5-1F5C33993898}"/>
              </a:ext>
            </a:extLst>
          </p:cNvPr>
          <p:cNvSpPr/>
          <p:nvPr/>
        </p:nvSpPr>
        <p:spPr>
          <a:xfrm>
            <a:off x="8307351" y="1889481"/>
            <a:ext cx="145473" cy="2367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31582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BBC6E-C1CA-C557-B321-98202A26C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D706-0356-37F8-D577-B800E2B17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 Optimization - New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56732-C966-3934-2477-CFEC5236F409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5ED09-B3BE-490A-D50A-F37BC1CEB7D4}"/>
              </a:ext>
            </a:extLst>
          </p:cNvPr>
          <p:cNvSpPr txBox="1"/>
          <p:nvPr/>
        </p:nvSpPr>
        <p:spPr>
          <a:xfrm>
            <a:off x="838200" y="1811547"/>
            <a:ext cx="3968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Skewness + STD +RMS + 1x harmonic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1E4A1-539E-2056-71DA-6BC09E53278C}"/>
              </a:ext>
            </a:extLst>
          </p:cNvPr>
          <p:cNvSpPr txBox="1"/>
          <p:nvPr/>
        </p:nvSpPr>
        <p:spPr>
          <a:xfrm>
            <a:off x="5906806" y="1811547"/>
            <a:ext cx="2894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Accuracy: 99.0234%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C006F-443C-16A6-16B3-F89C7D07720E}"/>
              </a:ext>
            </a:extLst>
          </p:cNvPr>
          <p:cNvSpPr txBox="1"/>
          <p:nvPr/>
        </p:nvSpPr>
        <p:spPr>
          <a:xfrm>
            <a:off x="8452824" y="1811547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0.4% 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DF079F88-5998-C5AA-E740-989E3BC1922F}"/>
              </a:ext>
            </a:extLst>
          </p:cNvPr>
          <p:cNvSpPr/>
          <p:nvPr/>
        </p:nvSpPr>
        <p:spPr>
          <a:xfrm>
            <a:off x="8307351" y="1889481"/>
            <a:ext cx="145473" cy="2367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EDD79C9-1993-17D5-78F0-CDB7DFCED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32" y="2714622"/>
            <a:ext cx="4790213" cy="359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56BDAC3D-C1F7-FD2B-536B-39132FE68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568" y="2599014"/>
            <a:ext cx="4865179" cy="363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204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EC1C5-D19A-617A-417E-4757EDA1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CA8F-96E1-9396-7EED-647D6958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 Optimization - New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4068D-655A-25A0-E783-CEE6B3BF293A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6C95B-D9DC-0ADF-810C-A0461A883950}"/>
              </a:ext>
            </a:extLst>
          </p:cNvPr>
          <p:cNvSpPr txBox="1"/>
          <p:nvPr/>
        </p:nvSpPr>
        <p:spPr>
          <a:xfrm>
            <a:off x="838200" y="1811547"/>
            <a:ext cx="3968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Skewness + STD  + MAV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7C5067-9E59-1F47-4A15-6DBE478C8582}"/>
              </a:ext>
            </a:extLst>
          </p:cNvPr>
          <p:cNvSpPr txBox="1"/>
          <p:nvPr/>
        </p:nvSpPr>
        <p:spPr>
          <a:xfrm>
            <a:off x="5906806" y="1811547"/>
            <a:ext cx="2894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Accuracy: 99.6094%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556500-4318-1D44-2840-684EB587F4FD}"/>
              </a:ext>
            </a:extLst>
          </p:cNvPr>
          <p:cNvSpPr txBox="1"/>
          <p:nvPr/>
        </p:nvSpPr>
        <p:spPr>
          <a:xfrm>
            <a:off x="8452824" y="1811547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0.2% 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BD5867CF-19D8-69E7-8FD5-860FFD09F9A7}"/>
              </a:ext>
            </a:extLst>
          </p:cNvPr>
          <p:cNvSpPr/>
          <p:nvPr/>
        </p:nvSpPr>
        <p:spPr>
          <a:xfrm rot="10800000">
            <a:off x="8307351" y="1889481"/>
            <a:ext cx="145473" cy="2367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7169" name="Picture 1">
            <a:extLst>
              <a:ext uri="{FF2B5EF4-FFF2-40B4-BE49-F238E27FC236}">
                <a16:creationId xmlns:a16="http://schemas.microsoft.com/office/drawing/2014/main" id="{B6A7A283-0FE4-CE09-69D1-501150137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686" y="2493819"/>
            <a:ext cx="51816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883CBECA-CC6F-F7D4-759E-530C83B03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9" y="2493819"/>
            <a:ext cx="51816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908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45E5-7D70-4D99-32AC-F2BA840AE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4EEB8-10DC-61A9-6BD7-B778BF18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 Optimization - New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5A49F-7B3D-CDB5-63B1-4AE67D142D1E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0C1D6-E150-8CC7-FBA0-1479BD72379B}"/>
              </a:ext>
            </a:extLst>
          </p:cNvPr>
          <p:cNvSpPr txBox="1"/>
          <p:nvPr/>
        </p:nvSpPr>
        <p:spPr>
          <a:xfrm>
            <a:off x="838200" y="1811547"/>
            <a:ext cx="3968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Skewness + STD  + MAV + 1x harmonic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58CD6-6300-CD9F-7C5E-6C2271DA218A}"/>
              </a:ext>
            </a:extLst>
          </p:cNvPr>
          <p:cNvSpPr txBox="1"/>
          <p:nvPr/>
        </p:nvSpPr>
        <p:spPr>
          <a:xfrm>
            <a:off x="5906806" y="1811547"/>
            <a:ext cx="2894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Accuracy: 100%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B01C4-421E-FB11-974C-E1EEC879A96F}"/>
              </a:ext>
            </a:extLst>
          </p:cNvPr>
          <p:cNvSpPr txBox="1"/>
          <p:nvPr/>
        </p:nvSpPr>
        <p:spPr>
          <a:xfrm>
            <a:off x="8452824" y="1811547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0.6% 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AD2DE17E-61C1-4B50-D208-79F16477FE3D}"/>
              </a:ext>
            </a:extLst>
          </p:cNvPr>
          <p:cNvSpPr/>
          <p:nvPr/>
        </p:nvSpPr>
        <p:spPr>
          <a:xfrm rot="10800000">
            <a:off x="8307351" y="1889481"/>
            <a:ext cx="145473" cy="2367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8193" name="Picture 1">
            <a:extLst>
              <a:ext uri="{FF2B5EF4-FFF2-40B4-BE49-F238E27FC236}">
                <a16:creationId xmlns:a16="http://schemas.microsoft.com/office/drawing/2014/main" id="{125A2679-9217-BC4D-5D05-F10F74375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49" y="2587337"/>
            <a:ext cx="4429494" cy="332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CA96399F-67F6-CCB5-896A-3287404C6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378" y="2493363"/>
            <a:ext cx="4573813" cy="34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471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FD12C-3FBC-BF44-6FF7-F4882051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9EEC8-46E6-2946-66BC-F3945C49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Standard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E74065-9D2B-1826-6A8B-47EC84C66578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9B1BA-D01F-E627-8B22-1C6AB9639F98}"/>
              </a:ext>
            </a:extLst>
          </p:cNvPr>
          <p:cNvSpPr txBox="1"/>
          <p:nvPr/>
        </p:nvSpPr>
        <p:spPr>
          <a:xfrm>
            <a:off x="838200" y="2795163"/>
            <a:ext cx="59351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 analysis</a:t>
            </a:r>
          </a:p>
          <a:p>
            <a:r>
              <a:rPr lang="en-US" dirty="0"/>
              <a:t>PCA </a:t>
            </a:r>
          </a:p>
          <a:p>
            <a:r>
              <a:rPr lang="en-US" dirty="0"/>
              <a:t>Feature importance score</a:t>
            </a:r>
          </a:p>
        </p:txBody>
      </p:sp>
    </p:spTree>
    <p:extLst>
      <p:ext uri="{BB962C8B-B14F-4D97-AF65-F5344CB8AC3E}">
        <p14:creationId xmlns:p14="http://schemas.microsoft.com/office/powerpoint/2010/main" val="4195278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DE51-FAE0-0C15-A9CF-4B3178FB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374D-8E7F-2EE6-0329-F14ACBF7E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991350" cy="1325563"/>
          </a:xfrm>
        </p:spPr>
        <p:txBody>
          <a:bodyPr/>
          <a:lstStyle/>
          <a:p>
            <a:r>
              <a:rPr lang="en-US" dirty="0"/>
              <a:t>Feature Selection Standard - Features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170590-0466-4487-4975-96513F3CBF94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3C04DC7A-59DD-E82C-2A17-B14F106B0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36" y="1866080"/>
            <a:ext cx="176913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F4F46668-08E8-3436-B67C-6F9995971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773" y="1866080"/>
            <a:ext cx="176913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D17AF7A4-CB05-21AA-14A2-996F327FB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066" y="1866080"/>
            <a:ext cx="176913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77C11A08-2A24-67DE-8F9F-EC20BD700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36" y="3475359"/>
            <a:ext cx="176913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8F64A7B9-28D1-7FAC-91C0-FD5932074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774" y="3475360"/>
            <a:ext cx="176913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22FC1FB3-0171-8CDF-40DC-04E9867BD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066" y="3475360"/>
            <a:ext cx="1769135" cy="132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">
            <a:extLst>
              <a:ext uri="{FF2B5EF4-FFF2-40B4-BE49-F238E27FC236}">
                <a16:creationId xmlns:a16="http://schemas.microsoft.com/office/drawing/2014/main" id="{45BDB3D6-95E5-5D8D-A321-AFAECB4BE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37" y="5034823"/>
            <a:ext cx="176913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37A19542-6208-A9A6-0CF2-E412885F8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773" y="5034823"/>
            <a:ext cx="176913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40EFD347-1ADE-0BEB-CE67-6B2DCD8AE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954" y="1807172"/>
            <a:ext cx="1769138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552E7C7F-4F20-4F70-1081-EB6BF0F74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7" y="1822854"/>
            <a:ext cx="176913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DA64F69A-2168-3735-15DA-48CD2E48A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6667" y="1782441"/>
            <a:ext cx="1769137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4D0BE82F-C5F2-00F2-488B-5F197030E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6364" y="3396267"/>
            <a:ext cx="1769135" cy="132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957A0D71-FE2F-0034-6152-EA1B09251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096" y="3396267"/>
            <a:ext cx="176913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A23E4D48-551E-D4FD-0168-B17A5DC33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5829" y="3396268"/>
            <a:ext cx="1769135" cy="132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AC722F74-7D09-7E0D-18F3-AA842B86B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096" y="5010093"/>
            <a:ext cx="1769135" cy="132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4AE35F24-C0B5-7058-6CB3-E213E707F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5828" y="5034823"/>
            <a:ext cx="176913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1156BE-F76D-59BC-A495-FDA5F9F11E26}"/>
              </a:ext>
            </a:extLst>
          </p:cNvPr>
          <p:cNvCxnSpPr/>
          <p:nvPr/>
        </p:nvCxnSpPr>
        <p:spPr>
          <a:xfrm>
            <a:off x="6096000" y="1782441"/>
            <a:ext cx="0" cy="45532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7D24D33-A42C-EF34-85CB-A5BDC7322748}"/>
              </a:ext>
            </a:extLst>
          </p:cNvPr>
          <p:cNvSpPr txBox="1"/>
          <p:nvPr/>
        </p:nvSpPr>
        <p:spPr>
          <a:xfrm>
            <a:off x="4129606" y="5791200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domain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3FF5B4-1C41-E1E3-87C2-BBEC4FDFE2B4}"/>
              </a:ext>
            </a:extLst>
          </p:cNvPr>
          <p:cNvSpPr txBox="1"/>
          <p:nvPr/>
        </p:nvSpPr>
        <p:spPr>
          <a:xfrm>
            <a:off x="6240840" y="5791200"/>
            <a:ext cx="2036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Frequency domain</a:t>
            </a:r>
          </a:p>
        </p:txBody>
      </p:sp>
    </p:spTree>
    <p:extLst>
      <p:ext uri="{BB962C8B-B14F-4D97-AF65-F5344CB8AC3E}">
        <p14:creationId xmlns:p14="http://schemas.microsoft.com/office/powerpoint/2010/main" val="22187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BA8D-97A0-91D4-590D-BAC3E4B22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94C09-32BD-080E-4F1D-D4ACD09D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Standard - PCA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F3222F-9DBF-2E5A-D1DB-744477AE3C0E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2140FFF2-60A5-A3DB-DC77-24B9106F1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528" y="2222937"/>
            <a:ext cx="5080472" cy="381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81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0BB51-F53B-FD84-8B9C-12501FAA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DD8C0-4DEC-B3F0-E950-5AB52A3E4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1851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Feature Selection Standard - Feature importance score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14933-3FDB-FEC4-9241-6B7A90717288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5E60C978-F270-5371-715E-4B68E3332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63" y="2650067"/>
            <a:ext cx="3981319" cy="298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FBFBD3-410E-C469-D5FF-7990BF524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437" y="2704464"/>
            <a:ext cx="3703633" cy="2776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9" name="Picture 1">
            <a:extLst>
              <a:ext uri="{FF2B5EF4-FFF2-40B4-BE49-F238E27FC236}">
                <a16:creationId xmlns:a16="http://schemas.microsoft.com/office/drawing/2014/main" id="{73F297FE-E94A-7BC5-6498-A62D0F7B8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044" y="2796405"/>
            <a:ext cx="3778956" cy="283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Graphic 19" descr="Badge New with solid fill">
            <a:extLst>
              <a:ext uri="{FF2B5EF4-FFF2-40B4-BE49-F238E27FC236}">
                <a16:creationId xmlns:a16="http://schemas.microsoft.com/office/drawing/2014/main" id="{D4295794-4D5B-0352-6587-4AC54EC57C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1006" y="2870034"/>
            <a:ext cx="169726" cy="1697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B3F67C8-C627-8E56-04B5-04029ECE4340}"/>
                  </a:ext>
                </a:extLst>
              </p14:cNvPr>
              <p14:cNvContentPartPr/>
              <p14:nvPr/>
            </p14:nvContentPartPr>
            <p14:xfrm>
              <a:off x="10547851" y="95214"/>
              <a:ext cx="1764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B3F67C8-C627-8E56-04B5-04029ECE43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41731" y="89094"/>
                <a:ext cx="298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83748A9-AC0A-76FC-BBE4-10604A0E5B2B}"/>
                  </a:ext>
                </a:extLst>
              </p14:cNvPr>
              <p14:cNvContentPartPr/>
              <p14:nvPr/>
            </p14:nvContentPartPr>
            <p14:xfrm>
              <a:off x="5838691" y="3390654"/>
              <a:ext cx="111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83748A9-AC0A-76FC-BBE4-10604A0E5B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2571" y="3384534"/>
                <a:ext cx="23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6884E24-64A8-39B7-3F5A-C78357E84466}"/>
                  </a:ext>
                </a:extLst>
              </p14:cNvPr>
              <p14:cNvContentPartPr/>
              <p14:nvPr/>
            </p14:nvContentPartPr>
            <p14:xfrm>
              <a:off x="6260971" y="3343494"/>
              <a:ext cx="360" cy="3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6884E24-64A8-39B7-3F5A-C78357E8446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54851" y="3337374"/>
                <a:ext cx="1260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Graphic 23" descr="Badge New with solid fill">
            <a:extLst>
              <a:ext uri="{FF2B5EF4-FFF2-40B4-BE49-F238E27FC236}">
                <a16:creationId xmlns:a16="http://schemas.microsoft.com/office/drawing/2014/main" id="{29CA515A-9FE6-D704-AFAD-5EB5055D0F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0983" y="3147940"/>
            <a:ext cx="169726" cy="169726"/>
          </a:xfrm>
          <a:prstGeom prst="rect">
            <a:avLst/>
          </a:prstGeom>
        </p:spPr>
      </p:pic>
      <p:pic>
        <p:nvPicPr>
          <p:cNvPr id="25" name="Graphic 24" descr="Badge New with solid fill">
            <a:extLst>
              <a:ext uri="{FF2B5EF4-FFF2-40B4-BE49-F238E27FC236}">
                <a16:creationId xmlns:a16="http://schemas.microsoft.com/office/drawing/2014/main" id="{BE7473C6-64BB-0589-52C3-BDEF9EF8F8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6818" y="3524458"/>
            <a:ext cx="169726" cy="169726"/>
          </a:xfrm>
          <a:prstGeom prst="rect">
            <a:avLst/>
          </a:prstGeom>
        </p:spPr>
      </p:pic>
      <p:pic>
        <p:nvPicPr>
          <p:cNvPr id="26" name="Graphic 25" descr="Badge New with solid fill">
            <a:extLst>
              <a:ext uri="{FF2B5EF4-FFF2-40B4-BE49-F238E27FC236}">
                <a16:creationId xmlns:a16="http://schemas.microsoft.com/office/drawing/2014/main" id="{90360CBB-4232-9A56-4390-F830CDF768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42018" y="3300341"/>
            <a:ext cx="169726" cy="169726"/>
          </a:xfrm>
          <a:prstGeom prst="rect">
            <a:avLst/>
          </a:prstGeom>
        </p:spPr>
      </p:pic>
      <p:pic>
        <p:nvPicPr>
          <p:cNvPr id="27" name="Graphic 26" descr="Badge New with solid fill">
            <a:extLst>
              <a:ext uri="{FF2B5EF4-FFF2-40B4-BE49-F238E27FC236}">
                <a16:creationId xmlns:a16="http://schemas.microsoft.com/office/drawing/2014/main" id="{5A56D516-8C82-9AA8-F86E-26EB5222C9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53006" y="2977611"/>
            <a:ext cx="169726" cy="169726"/>
          </a:xfrm>
          <a:prstGeom prst="rect">
            <a:avLst/>
          </a:prstGeom>
        </p:spPr>
      </p:pic>
      <p:pic>
        <p:nvPicPr>
          <p:cNvPr id="28" name="Graphic 27" descr="Badge New with solid fill">
            <a:extLst>
              <a:ext uri="{FF2B5EF4-FFF2-40B4-BE49-F238E27FC236}">
                <a16:creationId xmlns:a16="http://schemas.microsoft.com/office/drawing/2014/main" id="{4F4C0216-A65B-7EBA-D433-2DF67FBAFF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0512" y="3121047"/>
            <a:ext cx="169726" cy="169726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244CC16-8B83-D7A9-6379-D328AC8826CB}"/>
              </a:ext>
            </a:extLst>
          </p:cNvPr>
          <p:cNvCxnSpPr/>
          <p:nvPr/>
        </p:nvCxnSpPr>
        <p:spPr>
          <a:xfrm>
            <a:off x="3927423" y="3882452"/>
            <a:ext cx="4330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CC8A80E-FD4C-7320-89D4-2A599E26C627}"/>
              </a:ext>
            </a:extLst>
          </p:cNvPr>
          <p:cNvCxnSpPr/>
          <p:nvPr/>
        </p:nvCxnSpPr>
        <p:spPr>
          <a:xfrm>
            <a:off x="7959777" y="3882452"/>
            <a:ext cx="4330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91C3FB7-BA81-8CA9-F75C-72DAA0F1F913}"/>
              </a:ext>
            </a:extLst>
          </p:cNvPr>
          <p:cNvSpPr txBox="1"/>
          <p:nvPr/>
        </p:nvSpPr>
        <p:spPr>
          <a:xfrm>
            <a:off x="876925" y="5810282"/>
            <a:ext cx="2181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97.8516% accuracy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BA9AD4-DD1A-3250-4EB0-3853D647BB59}"/>
              </a:ext>
            </a:extLst>
          </p:cNvPr>
          <p:cNvSpPr txBox="1"/>
          <p:nvPr/>
        </p:nvSpPr>
        <p:spPr>
          <a:xfrm>
            <a:off x="5134131" y="5810282"/>
            <a:ext cx="2181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99.4141% accuracy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C5AC42-6E99-5B4C-3801-759EC067CBF7}"/>
              </a:ext>
            </a:extLst>
          </p:cNvPr>
          <p:cNvSpPr txBox="1"/>
          <p:nvPr/>
        </p:nvSpPr>
        <p:spPr>
          <a:xfrm>
            <a:off x="9166485" y="5810282"/>
            <a:ext cx="2181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100% accuracy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482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8651-0BBD-ADE3-03D7-DC225C49E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F7554-CE94-D0C1-F779-6D6EE7B0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 - KNN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3A49BF-9C6F-126E-0CFB-9BF65BF04509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2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D4E98535-844F-8680-3395-0BD598BFC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76" y="1585754"/>
            <a:ext cx="3436446" cy="2578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1F4D1589-0BAA-EC60-F148-B224BDBFB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646" y="1626675"/>
            <a:ext cx="3246619" cy="2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23D53512-C4C7-7519-A630-7775C73DE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681" y="1580289"/>
            <a:ext cx="3640843" cy="2731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6FDFB301-A1FC-6D00-0296-F576F9972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165" y="4250266"/>
            <a:ext cx="3116081" cy="233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AB06DB5F-F8D9-1103-0FE0-C13AAA7BAF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216" y="4250266"/>
            <a:ext cx="3246619" cy="243565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67A2D4-2B3D-AFDC-C1CA-53D86228AD15}"/>
              </a:ext>
            </a:extLst>
          </p:cNvPr>
          <p:cNvSpPr txBox="1"/>
          <p:nvPr/>
        </p:nvSpPr>
        <p:spPr>
          <a:xfrm>
            <a:off x="6902604" y="885582"/>
            <a:ext cx="6100996" cy="40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 Accuracy: 99.5118%</a:t>
            </a:r>
            <a:endParaRPr lang="en-US" sz="2800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617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64A1C-1A2C-315C-FE89-E0F8DFF8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7B2C-2739-0CE3-2072-5912E899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 - RF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41BAF2-87F6-BE43-6B2D-50063E38A300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75852-B4C3-F610-4264-D3132CCA3B16}"/>
              </a:ext>
            </a:extLst>
          </p:cNvPr>
          <p:cNvSpPr txBox="1"/>
          <p:nvPr/>
        </p:nvSpPr>
        <p:spPr>
          <a:xfrm>
            <a:off x="6902604" y="885582"/>
            <a:ext cx="6100996" cy="40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 Accuracy: 99.6093%</a:t>
            </a:r>
            <a:endParaRPr lang="en-US" sz="2800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A7111DAD-B03B-DC65-08A2-87EBE3262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23" y="1470448"/>
            <a:ext cx="3050800" cy="228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989DE035-1CD9-92FC-11BC-7D7BBB3F1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660" y="1470448"/>
            <a:ext cx="3050800" cy="228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29C2FD22-52E3-A39B-4E8C-2BC9910A75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899" y="1470447"/>
            <a:ext cx="3050801" cy="2288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A78BD650-B7DA-8209-7B5E-3BCB54CF94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423" y="3943572"/>
            <a:ext cx="3050800" cy="228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F176269B-AD24-4D47-6C66-0B0CA09F5E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43572"/>
            <a:ext cx="3050800" cy="22887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7875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0ED79-6F94-C5B5-18FB-DC4F035AB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21AC-D32F-EECE-D85C-93A5EE3CC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 - SVM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082F89-37FD-8421-A241-0B383CF21404}"/>
              </a:ext>
            </a:extLst>
          </p:cNvPr>
          <p:cNvSpPr/>
          <p:nvPr/>
        </p:nvSpPr>
        <p:spPr>
          <a:xfrm>
            <a:off x="2" y="645603"/>
            <a:ext cx="135922" cy="722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82718-08C4-BC12-B061-281C908153AC}"/>
              </a:ext>
            </a:extLst>
          </p:cNvPr>
          <p:cNvSpPr txBox="1"/>
          <p:nvPr/>
        </p:nvSpPr>
        <p:spPr>
          <a:xfrm>
            <a:off x="6902604" y="885582"/>
            <a:ext cx="4180555" cy="40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 Accuracy: 99.6582%</a:t>
            </a:r>
            <a:endParaRPr lang="en-US" sz="1800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0A5FA5D1-E0DA-03E0-95C7-9FA511A08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03" y="1486177"/>
            <a:ext cx="3647090" cy="2736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26271525-CDC4-07A0-2B33-186A6DD25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079" y="1483961"/>
            <a:ext cx="3647090" cy="2736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B45CFA6D-820E-BE32-9734-2BF2D19E5B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893" y="1562122"/>
            <a:ext cx="3444631" cy="2584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8DCA2374-C126-DB78-5DF3-8D8347C37B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935" y="4220058"/>
            <a:ext cx="3229303" cy="2422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graph with blue squares and white text&#10;&#10;Description automatically generated">
            <a:extLst>
              <a:ext uri="{FF2B5EF4-FFF2-40B4-BE49-F238E27FC236}">
                <a16:creationId xmlns:a16="http://schemas.microsoft.com/office/drawing/2014/main" id="{38253394-083A-81F7-49EC-60A2F7D519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611" y="4220058"/>
            <a:ext cx="3274564" cy="2456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476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594</TotalTime>
  <Words>266</Words>
  <Application>Microsoft Office PowerPoint</Application>
  <PresentationFormat>Widescreen</PresentationFormat>
  <Paragraphs>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Wingdings</vt:lpstr>
      <vt:lpstr>Office Theme</vt:lpstr>
      <vt:lpstr>Project 3 Report P4</vt:lpstr>
      <vt:lpstr>Review</vt:lpstr>
      <vt:lpstr>Bearing Specifications</vt:lpstr>
      <vt:lpstr>Frequencies related with bearing faults</vt:lpstr>
      <vt:lpstr>Previously</vt:lpstr>
      <vt:lpstr>Last week</vt:lpstr>
      <vt:lpstr>SOM Optimization - New features</vt:lpstr>
      <vt:lpstr>SOM Optimization - New features</vt:lpstr>
      <vt:lpstr>SOM Optimization - New features</vt:lpstr>
      <vt:lpstr>SOM Optimization - New features</vt:lpstr>
      <vt:lpstr>SOM Optimization - New features</vt:lpstr>
      <vt:lpstr>Feature Selection Standard</vt:lpstr>
      <vt:lpstr>Feature Selection Standard - Features Analysis</vt:lpstr>
      <vt:lpstr>Feature Selection Standard - PCA</vt:lpstr>
      <vt:lpstr>Feature Selection Standard - Feature importance score</vt:lpstr>
      <vt:lpstr>Cross validation - KNN </vt:lpstr>
      <vt:lpstr>Cross validation - RF </vt:lpstr>
      <vt:lpstr>Cross validation - SVM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PPT-Project</dc:title>
  <dc:creator>Sudhanshu Dubey</dc:creator>
  <cp:lastModifiedBy>Sudhanshu Dubey</cp:lastModifiedBy>
  <cp:revision>22</cp:revision>
  <dcterms:created xsi:type="dcterms:W3CDTF">2024-04-08T10:30:00Z</dcterms:created>
  <dcterms:modified xsi:type="dcterms:W3CDTF">2024-04-29T18:48:44Z</dcterms:modified>
</cp:coreProperties>
</file>